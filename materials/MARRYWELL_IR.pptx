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486" y="3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A2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29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29BFE"/>
                </a:solidFill>
              </a:rPr>
              <a:t>SMART WEDDING PLATFORM  ·  2026 INVESTOR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FF"/>
                </a:solidFill>
                <a:latin typeface="+mj-ea"/>
                <a:ea typeface="+mj-ea"/>
                <a:cs typeface="Pretendard" panose="02000503000000020004" pitchFamily="2" charset="-127"/>
              </a:rPr>
              <a:t>행복한 결혼식에 편리함을 더하는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</a:rPr>
              <a:t>MARRYWELL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82296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FF"/>
                </a:solidFill>
                <a:latin typeface="+mj-ea"/>
                <a:ea typeface="+mj-ea"/>
                <a:cs typeface="Pretendard" panose="02000503000000020004" pitchFamily="2" charset="-127"/>
              </a:rPr>
              <a:t>결혼식의 모든 불편함을 해결하는 스마트 웨딩 플랫폼
모바일 청첩장 · 축의금 간편 송금 · 디지털 방명록 · 답례 서비스를
하나의 플랫폼으로 연결합니다.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846320"/>
            <a:ext cx="2011680" cy="50292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ea"/>
              <a:ea typeface="+mj-ea"/>
              <a:cs typeface="Pretendard" panose="02000503000000020004" pitchFamily="2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4940864"/>
            <a:ext cx="1828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+mj-ea"/>
                <a:ea typeface="+mj-ea"/>
                <a:cs typeface="Pretendard" panose="02000503000000020004" pitchFamily="2" charset="-127"/>
              </a:rPr>
              <a:t>B2B &amp; B2C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06040" y="4846320"/>
            <a:ext cx="2011680" cy="502920"/>
          </a:xfrm>
          <a:prstGeom prst="rect">
            <a:avLst/>
          </a:prstGeom>
          <a:solidFill>
            <a:srgbClr val="4B3B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ea"/>
              <a:ea typeface="+mj-ea"/>
              <a:cs typeface="Pretendard" panose="02000503000000020004" pitchFamily="2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697480" y="4940864"/>
            <a:ext cx="1828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+mj-ea"/>
                <a:ea typeface="+mj-ea"/>
                <a:cs typeface="Pretendard" panose="02000503000000020004" pitchFamily="2" charset="-127"/>
              </a:rPr>
              <a:t>TAM  4조 964억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4846320"/>
            <a:ext cx="2011680" cy="502920"/>
          </a:xfrm>
          <a:prstGeom prst="rect">
            <a:avLst/>
          </a:prstGeom>
          <a:solidFill>
            <a:srgbClr val="4B3B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ea"/>
              <a:ea typeface="+mj-ea"/>
              <a:cs typeface="Pretendard" panose="02000503000000020004" pitchFamily="2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46320" y="4940864"/>
            <a:ext cx="1828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+mj-ea"/>
                <a:ea typeface="+mj-ea"/>
                <a:cs typeface="Pretendard" panose="02000503000000020004" pitchFamily="2" charset="-127"/>
              </a:rPr>
              <a:t>투자유치 목표  2억원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03720" y="4846320"/>
            <a:ext cx="2011680" cy="502920"/>
          </a:xfrm>
          <a:prstGeom prst="rect">
            <a:avLst/>
          </a:prstGeom>
          <a:solidFill>
            <a:srgbClr val="4B3B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ea"/>
              <a:ea typeface="+mj-ea"/>
              <a:cs typeface="Pretendard" panose="02000503000000020004" pitchFamily="2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995160" y="4940864"/>
            <a:ext cx="1828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+mj-ea"/>
                <a:ea typeface="+mj-ea"/>
                <a:cs typeface="Pretendard" panose="02000503000000020004" pitchFamily="2" charset="-127"/>
              </a:rPr>
              <a:t>상담전환율  80%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315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B3BC7"/>
                </a:solidFill>
                <a:latin typeface="+mn-ea"/>
                <a:cs typeface="Pretendard" panose="02000503000000020004" pitchFamily="2" charset="-127"/>
              </a:rPr>
              <a:t>—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+mn-ea"/>
                <a:cs typeface="Pretendard" panose="02000503000000020004" pitchFamily="2" charset="-127"/>
              </a:rPr>
              <a:t>결혼식, 아직도 이렇게 불편한가요?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515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C757D"/>
                </a:solidFill>
                <a:latin typeface="+mn-ea"/>
                <a:cs typeface="Pretendard" panose="02000503000000020004" pitchFamily="2" charset="-127"/>
              </a:rPr>
              <a:t>결혼을 경험한 사람, 결혼을 앞둔 예비 부부 모두 똑같은 문제를 겪습니다.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651760"/>
            <a:ext cx="5303520" cy="2560320"/>
          </a:xfrm>
          <a:prstGeom prst="rect">
            <a:avLst/>
          </a:prstGeom>
          <a:solidFill>
            <a:srgbClr val="FFFFFF"/>
          </a:solidFill>
          <a:ln>
            <a:solidFill>
              <a:srgbClr val="4B3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40080" y="2651760"/>
            <a:ext cx="109728" cy="2560320"/>
          </a:xfrm>
          <a:prstGeom prst="rect">
            <a:avLst/>
          </a:prstGeom>
          <a:solidFill>
            <a:srgbClr val="4B3B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2743200"/>
            <a:ext cx="48463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B3BC7"/>
                </a:solidFill>
                <a:latin typeface="+mn-ea"/>
                <a:cs typeface="Pretendard" panose="02000503000000020004" pitchFamily="2" charset="-127"/>
              </a:rPr>
              <a:t>💍  결혼 경험자의 페인포인트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00400"/>
            <a:ext cx="4846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+mn-ea"/>
                <a:cs typeface="Pretendard" panose="02000503000000020004" pitchFamily="2" charset="-127"/>
              </a:rPr>
              <a:t>"이 친구가 내 결혼에 얼마 축의했더라? 또 까먹었네"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76472"/>
            <a:ext cx="4846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+mn-ea"/>
                <a:cs typeface="Pretendard" panose="02000503000000020004" pitchFamily="2" charset="-127"/>
              </a:rPr>
              <a:t>"결혼식은 못 갈 것 같고, 축의금 전달을 누구한테 부탁하지?"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352544"/>
            <a:ext cx="4846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+mn-ea"/>
                <a:cs typeface="Pretendard" panose="02000503000000020004" pitchFamily="2" charset="-127"/>
              </a:rPr>
              <a:t>"축의금은 내는 게 좋은데, 나에게 필요없는 답례품은 별로야"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2651760"/>
            <a:ext cx="5303520" cy="2560320"/>
          </a:xfrm>
          <a:prstGeom prst="rect">
            <a:avLst/>
          </a:prstGeom>
          <a:solidFill>
            <a:srgbClr val="FFFFFF"/>
          </a:solidFill>
          <a:ln>
            <a:solidFill>
              <a:srgbClr val="4B3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263640" y="2651760"/>
            <a:ext cx="109728" cy="256032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92240" y="2743200"/>
            <a:ext cx="48463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B3BC7"/>
                </a:solidFill>
                <a:latin typeface="+mn-ea"/>
                <a:cs typeface="Pretendard" panose="02000503000000020004" pitchFamily="2" charset="-127"/>
              </a:rPr>
              <a:t>💒  결혼 예정자의 페인포인트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200400"/>
            <a:ext cx="4846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+mn-ea"/>
                <a:cs typeface="Pretendard" panose="02000503000000020004" pitchFamily="2" charset="-127"/>
              </a:rPr>
              <a:t>"축의금 관리는 누가 하지? 믿을 만한 사람이 있어야 하는데…"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76472"/>
            <a:ext cx="4846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+mn-ea"/>
                <a:cs typeface="Pretendard" panose="02000503000000020004" pitchFamily="2" charset="-127"/>
              </a:rPr>
              <a:t>"많은 인원을 보증해야 하는데, 다 와줄 수 있을까?"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352544"/>
            <a:ext cx="4846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+mn-ea"/>
                <a:cs typeface="Pretendard" panose="02000503000000020004" pitchFamily="2" charset="-127"/>
              </a:rPr>
              <a:t>"수기 방명록, 현금 봉투 관리가 너무 번거롭고 분실 위험도 있어"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394960"/>
            <a:ext cx="109728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4B3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14400" y="5486400"/>
            <a:ext cx="10515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B3BC7"/>
                </a:solidFill>
                <a:latin typeface="+mn-ea"/>
                <a:cs typeface="Pretendard" panose="02000503000000020004" pitchFamily="2" charset="-127"/>
              </a:rPr>
              <a:t>웨딩 시장은 디지털 전환을 강하게 요구하고 있지만, 이를 통합적으로 해결하는 서비스는 아직 없습니다.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315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B3BC7"/>
                </a:solidFill>
                <a:latin typeface="+mn-ea"/>
                <a:cs typeface="Pretendard" panose="02000503000000020004" pitchFamily="2" charset="-127"/>
              </a:rPr>
              <a:t>—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+mn-ea"/>
                <a:cs typeface="Pretendard" panose="02000503000000020004" pitchFamily="2" charset="-127"/>
              </a:rPr>
              <a:t>하나의 앱으로 완결되는 스마트 웨딩 경험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515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C757D"/>
                </a:solidFill>
                <a:latin typeface="+mn-ea"/>
                <a:cs typeface="Pretendard" panose="02000503000000020004" pitchFamily="2" charset="-127"/>
              </a:rPr>
              <a:t>MARRYWELL은 결혼식의 전 과정을 디지털로 전환합니다.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651760"/>
            <a:ext cx="3749039" cy="1463040"/>
          </a:xfrm>
          <a:prstGeom prst="rect">
            <a:avLst/>
          </a:prstGeom>
          <a:solidFill>
            <a:srgbClr val="EEF0FF"/>
          </a:solidFill>
          <a:ln>
            <a:solidFill>
              <a:srgbClr val="A29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2651760"/>
            <a:ext cx="3749039" cy="64008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2788920"/>
            <a:ext cx="347471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A2DA0"/>
                </a:solidFill>
                <a:latin typeface="+mn-ea"/>
                <a:cs typeface="Pretendard" panose="02000503000000020004" pitchFamily="2" charset="-127"/>
              </a:rPr>
              <a:t>📱  모바일 청첩장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46120"/>
            <a:ext cx="347471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  <a:latin typeface="+mn-ea"/>
                <a:cs typeface="Pretendard" panose="02000503000000020004" pitchFamily="2" charset="-127"/>
              </a:rPr>
              <a:t>참석/불참석, 축의금 송금, 방명록, 동영상 공유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2651760"/>
            <a:ext cx="3749039" cy="1463040"/>
          </a:xfrm>
          <a:prstGeom prst="rect">
            <a:avLst/>
          </a:prstGeom>
          <a:solidFill>
            <a:srgbClr val="EEF0FF"/>
          </a:solidFill>
          <a:ln>
            <a:solidFill>
              <a:srgbClr val="A29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89120" y="2651760"/>
            <a:ext cx="3749039" cy="64008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26280" y="2788920"/>
            <a:ext cx="347471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A2DA0"/>
                </a:solidFill>
                <a:latin typeface="+mn-ea"/>
                <a:cs typeface="Pretendard" panose="02000503000000020004" pitchFamily="2" charset="-127"/>
              </a:rPr>
              <a:t>💳  스마트 축의금 송금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246120"/>
            <a:ext cx="347471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  <a:latin typeface="+mn-ea"/>
                <a:cs typeface="Pretendard" panose="02000503000000020004" pitchFamily="2" charset="-127"/>
              </a:rPr>
              <a:t>오픈뱅킹 API 연동 · 계좌번호 비노출 · 실명확인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2651760"/>
            <a:ext cx="3749039" cy="1463040"/>
          </a:xfrm>
          <a:prstGeom prst="rect">
            <a:avLst/>
          </a:prstGeom>
          <a:solidFill>
            <a:srgbClr val="EEF0FF"/>
          </a:solidFill>
          <a:ln>
            <a:solidFill>
              <a:srgbClr val="A29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321040" y="2651760"/>
            <a:ext cx="3749039" cy="64008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458200" y="2788920"/>
            <a:ext cx="347471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A2DA0"/>
                </a:solidFill>
                <a:latin typeface="+mn-ea"/>
                <a:cs typeface="Pretendard" panose="02000503000000020004" pitchFamily="2" charset="-127"/>
              </a:rPr>
              <a:t>📋  디지털 방명록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3246120"/>
            <a:ext cx="347471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  <a:latin typeface="+mn-ea"/>
                <a:cs typeface="Pretendard" panose="02000503000000020004" pitchFamily="2" charset="-127"/>
              </a:rPr>
              <a:t>수기 방명록 대체 · 자동 DB화 · 실시간 확인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343400"/>
            <a:ext cx="3749039" cy="1463040"/>
          </a:xfrm>
          <a:prstGeom prst="rect">
            <a:avLst/>
          </a:prstGeom>
          <a:solidFill>
            <a:srgbClr val="EEF0FF"/>
          </a:solidFill>
          <a:ln>
            <a:solidFill>
              <a:srgbClr val="A29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57200" y="4343400"/>
            <a:ext cx="3749039" cy="64008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94360" y="4480560"/>
            <a:ext cx="347471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A2DA0"/>
                </a:solidFill>
                <a:latin typeface="+mn-ea"/>
                <a:cs typeface="Pretendard" panose="02000503000000020004" pitchFamily="2" charset="-127"/>
              </a:rPr>
              <a:t>🎁  모바일 답례 서비스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937760"/>
            <a:ext cx="347471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  <a:latin typeface="+mn-ea"/>
                <a:cs typeface="Pretendard" panose="02000503000000020004" pitchFamily="2" charset="-127"/>
              </a:rPr>
              <a:t>답례품 선택 · 배송 · Paperless 무인화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4343400"/>
            <a:ext cx="3749039" cy="1463040"/>
          </a:xfrm>
          <a:prstGeom prst="rect">
            <a:avLst/>
          </a:prstGeom>
          <a:solidFill>
            <a:srgbClr val="EEF0FF"/>
          </a:solidFill>
          <a:ln>
            <a:solidFill>
              <a:srgbClr val="A29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389120" y="4343400"/>
            <a:ext cx="3749039" cy="64008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26280" y="4480560"/>
            <a:ext cx="347471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A2DA0"/>
                </a:solidFill>
                <a:latin typeface="+mn-ea"/>
                <a:cs typeface="Pretendard" panose="02000503000000020004" pitchFamily="2" charset="-127"/>
              </a:rPr>
              <a:t>📊  하객 통합 관리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937760"/>
            <a:ext cx="347471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  <a:latin typeface="+mn-ea"/>
                <a:cs typeface="Pretendard" panose="02000503000000020004" pitchFamily="2" charset="-127"/>
              </a:rPr>
              <a:t>참석여부·송금액·식권·답례 한눈에 실시간 정산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21040" y="4343400"/>
            <a:ext cx="3749039" cy="1463040"/>
          </a:xfrm>
          <a:prstGeom prst="rect">
            <a:avLst/>
          </a:prstGeom>
          <a:solidFill>
            <a:srgbClr val="EEF0FF"/>
          </a:solidFill>
          <a:ln>
            <a:solidFill>
              <a:srgbClr val="A29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321040" y="4343400"/>
            <a:ext cx="3749039" cy="64008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458200" y="4480560"/>
            <a:ext cx="347471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A2DA0"/>
                </a:solidFill>
                <a:latin typeface="+mn-ea"/>
                <a:cs typeface="Pretendard" panose="02000503000000020004" pitchFamily="2" charset="-127"/>
              </a:rPr>
              <a:t>🤖  AI 맞춤 복지(확장)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4937760"/>
            <a:ext cx="347471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  <a:latin typeface="+mn-ea"/>
                <a:cs typeface="Pretendard" panose="02000503000000020004" pitchFamily="2" charset="-127"/>
              </a:rPr>
              <a:t>신혼부부 데이터 → 마이데이터·커머스 연계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315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B3BC7"/>
                </a:solidFill>
                <a:latin typeface="+mn-ea"/>
                <a:cs typeface="Pretendard" panose="02000503000000020004" pitchFamily="2" charset="-127"/>
              </a:rPr>
              <a:t>— Competitive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+mn-ea"/>
                <a:cs typeface="Pretendard" panose="02000503000000020004" pitchFamily="2" charset="-127"/>
              </a:rPr>
              <a:t>경쟁사는 절반만 합니다. MARRYWELL은 전부 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515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C757D"/>
                </a:solidFill>
                <a:latin typeface="+mn-ea"/>
                <a:cs typeface="Pretendard" panose="02000503000000020004" pitchFamily="2" charset="-127"/>
              </a:rPr>
              <a:t>기존 서비스는 단순 청첩장 또는 결제 기능에 그칩니다. MARRYWELL만이 통합 솔루션을 제공합니다.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651760"/>
            <a:ext cx="1828800" cy="502920"/>
          </a:xfrm>
          <a:prstGeom prst="rect">
            <a:avLst/>
          </a:prstGeom>
          <a:solidFill>
            <a:srgbClr val="4B3B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1480" y="2724912"/>
            <a:ext cx="17373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+mn-ea"/>
                <a:cs typeface="Pretendard" panose="02000503000000020004" pitchFamily="2" charset="-127"/>
              </a:rPr>
              <a:t>기능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2651760"/>
            <a:ext cx="1188720" cy="502920"/>
          </a:xfrm>
          <a:prstGeom prst="rect">
            <a:avLst/>
          </a:prstGeom>
          <a:solidFill>
            <a:srgbClr val="4B3B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40280" y="2724912"/>
            <a:ext cx="1097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+mn-ea"/>
                <a:cs typeface="Pretendard" panose="02000503000000020004" pitchFamily="2" charset="-127"/>
              </a:rPr>
              <a:t>오딩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651760"/>
            <a:ext cx="1188720" cy="502920"/>
          </a:xfrm>
          <a:prstGeom prst="rect">
            <a:avLst/>
          </a:prstGeom>
          <a:solidFill>
            <a:srgbClr val="4B3B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429000" y="2724912"/>
            <a:ext cx="1097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+mn-ea"/>
                <a:cs typeface="Pretendard" panose="02000503000000020004" pitchFamily="2" charset="-127"/>
              </a:rPr>
              <a:t>다디단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2651760"/>
            <a:ext cx="1188720" cy="502920"/>
          </a:xfrm>
          <a:prstGeom prst="rect">
            <a:avLst/>
          </a:prstGeom>
          <a:solidFill>
            <a:srgbClr val="4B3B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617720" y="2724912"/>
            <a:ext cx="1097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+mn-ea"/>
                <a:cs typeface="Pretendard" panose="02000503000000020004" pitchFamily="2" charset="-127"/>
              </a:rPr>
              <a:t>바른손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2651760"/>
            <a:ext cx="3200400" cy="502920"/>
          </a:xfrm>
          <a:prstGeom prst="rect">
            <a:avLst/>
          </a:prstGeom>
          <a:solidFill>
            <a:srgbClr val="3A2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806440" y="2724912"/>
            <a:ext cx="31089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4C430"/>
                </a:solidFill>
                <a:latin typeface="+mn-ea"/>
                <a:cs typeface="Pretendard" panose="02000503000000020004" pitchFamily="2" charset="-127"/>
              </a:rPr>
              <a:t>MARRYWELL 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0" y="2651760"/>
            <a:ext cx="2743200" cy="502920"/>
          </a:xfrm>
          <a:prstGeom prst="rect">
            <a:avLst/>
          </a:prstGeom>
          <a:solidFill>
            <a:srgbClr val="4B3B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006840" y="2724912"/>
            <a:ext cx="26517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+mn-ea"/>
                <a:cs typeface="Pretendard" panose="02000503000000020004" pitchFamily="2" charset="-127"/>
              </a:rPr>
              <a:t>경쟁 우위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154680"/>
            <a:ext cx="1828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11480" y="3218688"/>
            <a:ext cx="17373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+mn-ea"/>
                <a:cs typeface="Pretendard" panose="02000503000000020004" pitchFamily="2" charset="-127"/>
              </a:rPr>
              <a:t>경조금 접수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94560" y="315468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240280" y="3218688"/>
            <a:ext cx="10972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+mn-ea"/>
                <a:cs typeface="Pretendard" panose="02000503000000020004" pitchFamily="2" charset="-127"/>
              </a:rPr>
              <a:t>가상계좌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315468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429000" y="3218688"/>
            <a:ext cx="10972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+mn-ea"/>
                <a:cs typeface="Pretendard" panose="02000503000000020004" pitchFamily="2" charset="-127"/>
              </a:rPr>
              <a:t>카카오페이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315468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617720" y="3218688"/>
            <a:ext cx="10972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+mn-ea"/>
                <a:cs typeface="Pretendard" panose="02000503000000020004" pitchFamily="2" charset="-127"/>
              </a:rPr>
              <a:t>카카오페이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60720" y="3154680"/>
            <a:ext cx="3200400" cy="502920"/>
          </a:xfrm>
          <a:prstGeom prst="rect">
            <a:avLst/>
          </a:prstGeom>
          <a:solidFill>
            <a:srgbClr val="E8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806440" y="3218688"/>
            <a:ext cx="3108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A2DA0"/>
                </a:solidFill>
                <a:latin typeface="+mn-ea"/>
                <a:cs typeface="Pretendard" panose="02000503000000020004" pitchFamily="2" charset="-127"/>
              </a:rPr>
              <a:t>오픈뱅킹 송금
오프라인 결제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61120" y="315468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006840" y="3218688"/>
            <a:ext cx="2651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+mn-ea"/>
                <a:cs typeface="Pretendard" panose="02000503000000020004" pitchFamily="2" charset="-127"/>
              </a:rPr>
              <a:t>계좌번호 비노출
보안성·고유 청첩장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657600"/>
            <a:ext cx="1828800" cy="502920"/>
          </a:xfrm>
          <a:prstGeom prst="rect">
            <a:avLst/>
          </a:prstGeom>
          <a:solidFill>
            <a:srgbClr val="F8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11480" y="3721608"/>
            <a:ext cx="17373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+mn-ea"/>
                <a:cs typeface="Pretendard" panose="02000503000000020004" pitchFamily="2" charset="-127"/>
              </a:rPr>
              <a:t>디스플레이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94560" y="3657600"/>
            <a:ext cx="1188720" cy="502920"/>
          </a:xfrm>
          <a:prstGeom prst="rect">
            <a:avLst/>
          </a:prstGeom>
          <a:solidFill>
            <a:srgbClr val="F8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240280" y="3721608"/>
            <a:ext cx="10972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3333"/>
                </a:solidFill>
                <a:latin typeface="+mn-ea"/>
                <a:cs typeface="Pretendard" panose="02000503000000020004" pitchFamily="2" charset="-127"/>
              </a:rPr>
              <a:t>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83280" y="3657600"/>
            <a:ext cx="1188720" cy="502920"/>
          </a:xfrm>
          <a:prstGeom prst="rect">
            <a:avLst/>
          </a:prstGeom>
          <a:solidFill>
            <a:srgbClr val="F8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429000" y="3721608"/>
            <a:ext cx="10972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3333"/>
                </a:solidFill>
                <a:latin typeface="+mn-ea"/>
                <a:cs typeface="Pretendard" panose="02000503000000020004" pitchFamily="2" charset="-127"/>
              </a:rPr>
              <a:t>✕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0" y="3657600"/>
            <a:ext cx="1188720" cy="502920"/>
          </a:xfrm>
          <a:prstGeom prst="rect">
            <a:avLst/>
          </a:prstGeom>
          <a:solidFill>
            <a:srgbClr val="F8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617720" y="3721608"/>
            <a:ext cx="10972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3333"/>
                </a:solidFill>
                <a:latin typeface="+mn-ea"/>
                <a:cs typeface="Pretendard" panose="02000503000000020004" pitchFamily="2" charset="-127"/>
              </a:rPr>
              <a:t>✕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60720" y="3657600"/>
            <a:ext cx="3200400" cy="502920"/>
          </a:xfrm>
          <a:prstGeom prst="rect">
            <a:avLst/>
          </a:prstGeom>
          <a:solidFill>
            <a:srgbClr val="E8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806440" y="3721608"/>
            <a:ext cx="31089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A2DA0"/>
                </a:solidFill>
                <a:latin typeface="+mn-ea"/>
                <a:cs typeface="Pretendard" panose="02000503000000020004" pitchFamily="2" charset="-127"/>
              </a:rPr>
              <a:t>오프라인 디지털 방명록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61120" y="3657600"/>
            <a:ext cx="2743200" cy="502920"/>
          </a:xfrm>
          <a:prstGeom prst="rect">
            <a:avLst/>
          </a:prstGeom>
          <a:solidFill>
            <a:srgbClr val="F8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006840" y="3721608"/>
            <a:ext cx="26517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+mn-ea"/>
                <a:cs typeface="Pretendard" panose="02000503000000020004" pitchFamily="2" charset="-127"/>
              </a:rPr>
              <a:t>오프라인 하객명단 통합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4160520"/>
            <a:ext cx="1828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11480" y="4224528"/>
            <a:ext cx="17373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+mn-ea"/>
                <a:cs typeface="Pretendard" panose="02000503000000020004" pitchFamily="2" charset="-127"/>
              </a:rPr>
              <a:t>답례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194560" y="416052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240280" y="4224528"/>
            <a:ext cx="10972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3333"/>
                </a:solidFill>
                <a:latin typeface="+mn-ea"/>
                <a:cs typeface="Pretendard" panose="02000503000000020004" pitchFamily="2" charset="-127"/>
              </a:rPr>
              <a:t>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383280" y="416052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429000" y="4224528"/>
            <a:ext cx="10972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3333"/>
                </a:solidFill>
                <a:latin typeface="+mn-ea"/>
                <a:cs typeface="Pretendard" panose="02000503000000020004" pitchFamily="2" charset="-127"/>
              </a:rPr>
              <a:t>✕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0" y="416052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4617720" y="4224528"/>
            <a:ext cx="10972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3333"/>
                </a:solidFill>
                <a:latin typeface="+mn-ea"/>
                <a:cs typeface="Pretendard" panose="02000503000000020004" pitchFamily="2" charset="-127"/>
              </a:rPr>
              <a:t>✕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760720" y="4160520"/>
            <a:ext cx="3200400" cy="502920"/>
          </a:xfrm>
          <a:prstGeom prst="rect">
            <a:avLst/>
          </a:prstGeom>
          <a:solidFill>
            <a:srgbClr val="E8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5806440" y="4224528"/>
            <a:ext cx="31089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A2DA0"/>
                </a:solidFill>
                <a:latin typeface="+mn-ea"/>
                <a:cs typeface="Pretendard" panose="02000503000000020004" pitchFamily="2" charset="-127"/>
              </a:rPr>
              <a:t>모바일 식권·답례품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961120" y="416052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9006840" y="4224528"/>
            <a:ext cx="26517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+mn-ea"/>
                <a:cs typeface="Pretendard" panose="02000503000000020004" pitchFamily="2" charset="-127"/>
              </a:rPr>
              <a:t>Paperless·무인화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4663440"/>
            <a:ext cx="1828800" cy="502920"/>
          </a:xfrm>
          <a:prstGeom prst="rect">
            <a:avLst/>
          </a:prstGeom>
          <a:solidFill>
            <a:srgbClr val="F8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411480" y="4727448"/>
            <a:ext cx="17373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+mn-ea"/>
                <a:cs typeface="Pretendard" panose="02000503000000020004" pitchFamily="2" charset="-127"/>
              </a:rPr>
              <a:t>정산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194560" y="4663440"/>
            <a:ext cx="1188720" cy="502920"/>
          </a:xfrm>
          <a:prstGeom prst="rect">
            <a:avLst/>
          </a:prstGeom>
          <a:solidFill>
            <a:srgbClr val="F8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2240280" y="4727448"/>
            <a:ext cx="10972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3333"/>
                </a:solidFill>
                <a:latin typeface="+mn-ea"/>
                <a:cs typeface="Pretendard" panose="02000503000000020004" pitchFamily="2" charset="-127"/>
              </a:rPr>
              <a:t>✕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383280" y="4663440"/>
            <a:ext cx="1188720" cy="502920"/>
          </a:xfrm>
          <a:prstGeom prst="rect">
            <a:avLst/>
          </a:prstGeom>
          <a:solidFill>
            <a:srgbClr val="F8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429000" y="4727448"/>
            <a:ext cx="10972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3333"/>
                </a:solidFill>
                <a:latin typeface="+mn-ea"/>
                <a:cs typeface="Pretendard" panose="02000503000000020004" pitchFamily="2" charset="-127"/>
              </a:rPr>
              <a:t>✕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0" y="4663440"/>
            <a:ext cx="1188720" cy="502920"/>
          </a:xfrm>
          <a:prstGeom prst="rect">
            <a:avLst/>
          </a:prstGeom>
          <a:solidFill>
            <a:srgbClr val="F8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4617720" y="4727448"/>
            <a:ext cx="10972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3333"/>
                </a:solidFill>
                <a:latin typeface="+mn-ea"/>
                <a:cs typeface="Pretendard" panose="02000503000000020004" pitchFamily="2" charset="-127"/>
              </a:rPr>
              <a:t>✕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760720" y="4663440"/>
            <a:ext cx="3200400" cy="502920"/>
          </a:xfrm>
          <a:prstGeom prst="rect">
            <a:avLst/>
          </a:prstGeom>
          <a:solidFill>
            <a:srgbClr val="E8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5806440" y="4727448"/>
            <a:ext cx="31089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A2DA0"/>
                </a:solidFill>
                <a:latin typeface="+mn-ea"/>
                <a:cs typeface="Pretendard" panose="02000503000000020004" pitchFamily="2" charset="-127"/>
              </a:rPr>
              <a:t>실시간 정산 관리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961120" y="4663440"/>
            <a:ext cx="2743200" cy="502920"/>
          </a:xfrm>
          <a:prstGeom prst="rect">
            <a:avLst/>
          </a:prstGeom>
          <a:solidFill>
            <a:srgbClr val="F8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9006840" y="4727448"/>
            <a:ext cx="26517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+mn-ea"/>
                <a:cs typeface="Pretendard" panose="02000503000000020004" pitchFamily="2" charset="-127"/>
              </a:rPr>
              <a:t>투명성·즉시성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" y="5166360"/>
            <a:ext cx="1828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411480" y="5230368"/>
            <a:ext cx="17373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+mn-ea"/>
                <a:cs typeface="Pretendard" panose="02000503000000020004" pitchFamily="2" charset="-127"/>
              </a:rPr>
              <a:t>하객 관리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194560" y="516636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2240280" y="5230368"/>
            <a:ext cx="10972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3333"/>
                </a:solidFill>
                <a:latin typeface="+mn-ea"/>
                <a:cs typeface="Pretendard" panose="02000503000000020004" pitchFamily="2" charset="-127"/>
              </a:rPr>
              <a:t>✕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383280" y="516636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3429000" y="5230368"/>
            <a:ext cx="10972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3333"/>
                </a:solidFill>
                <a:latin typeface="+mn-ea"/>
                <a:cs typeface="Pretendard" panose="02000503000000020004" pitchFamily="2" charset="-127"/>
              </a:rPr>
              <a:t>✕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572000" y="516636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4617720" y="5230368"/>
            <a:ext cx="10972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3333"/>
                </a:solidFill>
                <a:latin typeface="+mn-ea"/>
                <a:cs typeface="Pretendard" panose="02000503000000020004" pitchFamily="2" charset="-127"/>
              </a:rPr>
              <a:t>✕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760720" y="5166360"/>
            <a:ext cx="3200400" cy="502920"/>
          </a:xfrm>
          <a:prstGeom prst="rect">
            <a:avLst/>
          </a:prstGeom>
          <a:solidFill>
            <a:srgbClr val="E8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5806440" y="5230368"/>
            <a:ext cx="31089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A2DA0"/>
                </a:solidFill>
                <a:latin typeface="+mn-ea"/>
                <a:cs typeface="Pretendard" panose="02000503000000020004" pitchFamily="2" charset="-127"/>
              </a:rPr>
              <a:t>송금·참석·답례 DB통합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961120" y="516636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9006840" y="5230368"/>
            <a:ext cx="26517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+mn-ea"/>
                <a:cs typeface="Pretendard" panose="02000503000000020004" pitchFamily="2" charset="-127"/>
              </a:rPr>
              <a:t>투명성·정확성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315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B3BC7"/>
                </a:solidFill>
                <a:latin typeface="+mn-ea"/>
                <a:cs typeface="Pretendard" panose="02000503000000020004" pitchFamily="2" charset="-127"/>
              </a:rPr>
              <a:t>— 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+mn-ea"/>
                <a:cs typeface="Pretendard" panose="02000503000000020004" pitchFamily="2" charset="-127"/>
              </a:rPr>
              <a:t>경조사 이용인구 4천만 명, 4조 원의 거대 시장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515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C757D"/>
                </a:solidFill>
                <a:latin typeface="+mn-ea"/>
                <a:cs typeface="Pretendard" panose="02000503000000020004" pitchFamily="2" charset="-127"/>
              </a:rPr>
              <a:t>결혼 시장에서 시작해 경조·복지 데이터 시장까지 확장합니다. (출처: 통계청 인구조사)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560320"/>
            <a:ext cx="3200400" cy="3200400"/>
          </a:xfrm>
          <a:prstGeom prst="ellipse">
            <a:avLst/>
          </a:prstGeom>
          <a:solidFill>
            <a:srgbClr val="4B3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17320" y="3383280"/>
            <a:ext cx="2194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+mn-ea"/>
                <a:cs typeface="Pretendard" panose="02000503000000020004" pitchFamily="2" charset="-127"/>
              </a:rPr>
              <a:t>TAM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3749040"/>
            <a:ext cx="2194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+mn-ea"/>
                <a:cs typeface="Pretendard" panose="02000503000000020004" pitchFamily="2" charset="-127"/>
              </a:rPr>
              <a:t>4조 964억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4297680"/>
            <a:ext cx="21945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+mn-ea"/>
                <a:cs typeface="Pretendard" panose="02000503000000020004" pitchFamily="2" charset="-127"/>
              </a:rPr>
              <a:t>경조사 이용인구 4,096만 명</a:t>
            </a:r>
          </a:p>
        </p:txBody>
      </p:sp>
      <p:sp>
        <p:nvSpPr>
          <p:cNvPr id="10" name="Oval 9"/>
          <p:cNvSpPr/>
          <p:nvPr/>
        </p:nvSpPr>
        <p:spPr>
          <a:xfrm>
            <a:off x="2011680" y="3017520"/>
            <a:ext cx="2560320" cy="256032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94560" y="3520440"/>
            <a:ext cx="2194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+mn-ea"/>
                <a:cs typeface="Pretendard" panose="02000503000000020004" pitchFamily="2" charset="-127"/>
              </a:rPr>
              <a:t>SAM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3886200"/>
            <a:ext cx="2194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+mn-ea"/>
                <a:cs typeface="Pretendard" panose="02000503000000020004" pitchFamily="2" charset="-127"/>
              </a:rPr>
              <a:t>1조 6,181억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4434840"/>
            <a:ext cx="21945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+mn-ea"/>
                <a:cs typeface="Pretendard" panose="02000503000000020004" pitchFamily="2" charset="-127"/>
              </a:rPr>
              <a:t>경조 관리인구 1,618만 명</a:t>
            </a:r>
          </a:p>
        </p:txBody>
      </p:sp>
      <p:sp>
        <p:nvSpPr>
          <p:cNvPr id="14" name="Oval 13"/>
          <p:cNvSpPr/>
          <p:nvPr/>
        </p:nvSpPr>
        <p:spPr>
          <a:xfrm>
            <a:off x="3017520" y="3474720"/>
            <a:ext cx="1828800" cy="1828800"/>
          </a:xfrm>
          <a:prstGeom prst="ellipse">
            <a:avLst/>
          </a:prstGeom>
          <a:solidFill>
            <a:srgbClr val="A29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834640" y="3611880"/>
            <a:ext cx="2194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+mn-ea"/>
                <a:cs typeface="Pretendard" panose="02000503000000020004" pitchFamily="2" charset="-127"/>
              </a:rPr>
              <a:t>SOM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3977640"/>
            <a:ext cx="2194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+mn-ea"/>
                <a:cs typeface="Pretendard" panose="02000503000000020004" pitchFamily="2" charset="-127"/>
              </a:rPr>
              <a:t>564억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4526280"/>
            <a:ext cx="21945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+mn-ea"/>
                <a:cs typeface="Pretendard" panose="02000503000000020004" pitchFamily="2" charset="-127"/>
              </a:rPr>
              <a:t>연간 신혼부부+상조인원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2651760"/>
            <a:ext cx="5577840" cy="1097280"/>
          </a:xfrm>
          <a:prstGeom prst="rect">
            <a:avLst/>
          </a:prstGeom>
          <a:solidFill>
            <a:srgbClr val="EEF0FF"/>
          </a:solidFill>
          <a:ln>
            <a:solidFill>
              <a:srgbClr val="4B3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943600" y="2651760"/>
            <a:ext cx="109728" cy="1097280"/>
          </a:xfrm>
          <a:prstGeom prst="rect">
            <a:avLst/>
          </a:prstGeom>
          <a:solidFill>
            <a:srgbClr val="4B3B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172200" y="2743200"/>
            <a:ext cx="5212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B3BC7"/>
                </a:solidFill>
                <a:latin typeface="+mn-ea"/>
                <a:cs typeface="Pretendard" panose="02000503000000020004" pitchFamily="2" charset="-127"/>
              </a:rPr>
              <a:t>B2B TARGET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3108960"/>
            <a:ext cx="52120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+mn-ea"/>
                <a:cs typeface="Pretendard" panose="02000503000000020004" pitchFamily="2" charset="-127"/>
              </a:rPr>
              <a:t>결혼식장 967개 + 장례식장 1,096개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3886200"/>
            <a:ext cx="5577840" cy="1097280"/>
          </a:xfrm>
          <a:prstGeom prst="rect">
            <a:avLst/>
          </a:prstGeom>
          <a:solidFill>
            <a:srgbClr val="E8F5E9"/>
          </a:solidFill>
          <a:ln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943600" y="3886200"/>
            <a:ext cx="109728" cy="109728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172200" y="3977640"/>
            <a:ext cx="5212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AF50"/>
                </a:solidFill>
                <a:latin typeface="+mn-ea"/>
                <a:cs typeface="Pretendard" panose="02000503000000020004" pitchFamily="2" charset="-127"/>
              </a:rPr>
              <a:t>B2C TARGET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4343400"/>
            <a:ext cx="52120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+mn-ea"/>
                <a:cs typeface="Pretendard" panose="02000503000000020004" pitchFamily="2" charset="-127"/>
              </a:rPr>
              <a:t>연간 신혼부부 19만 1,690쌍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5120640"/>
            <a:ext cx="5577840" cy="1097280"/>
          </a:xfrm>
          <a:prstGeom prst="rect">
            <a:avLst/>
          </a:prstGeom>
          <a:solidFill>
            <a:srgbClr val="FFF8E1"/>
          </a:solidFill>
          <a:ln>
            <a:solidFill>
              <a:srgbClr val="F4C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943600" y="5120640"/>
            <a:ext cx="109728" cy="1097280"/>
          </a:xfrm>
          <a:prstGeom prst="rect">
            <a:avLst/>
          </a:prstGeom>
          <a:solidFill>
            <a:srgbClr val="F4C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172200" y="5212080"/>
            <a:ext cx="5212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C430"/>
                </a:solidFill>
                <a:latin typeface="+mn-ea"/>
                <a:cs typeface="Pretendard" panose="02000503000000020004" pitchFamily="2" charset="-127"/>
              </a:rPr>
              <a:t>EXPANSION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5577840"/>
            <a:ext cx="52120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+mn-ea"/>
                <a:cs typeface="Pretendard" panose="02000503000000020004" pitchFamily="2" charset="-127"/>
              </a:rPr>
              <a:t>경조+데이터 시장 → 신규 수익원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315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B3BC7"/>
                </a:solidFill>
                <a:latin typeface="+mn-ea"/>
              </a:rPr>
              <a:t>— Service Benefit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+mn-ea"/>
              </a:rPr>
              <a:t>모든 이해관계자가 윈-윈하는 플랫폼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515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C757D"/>
                </a:solidFill>
                <a:latin typeface="+mn-ea"/>
              </a:rPr>
              <a:t>신혼부부 · 웨딩홀 · 하객, 세 주체 모두에게 명확한 가치를 제공합니다.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606040"/>
            <a:ext cx="3749039" cy="3200400"/>
          </a:xfrm>
          <a:prstGeom prst="rect">
            <a:avLst/>
          </a:prstGeom>
          <a:solidFill>
            <a:srgbClr val="EEF0FF"/>
          </a:solidFill>
          <a:ln>
            <a:solidFill>
              <a:srgbClr val="4B3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3749039" cy="73152"/>
          </a:xfrm>
          <a:prstGeom prst="rect">
            <a:avLst/>
          </a:prstGeom>
          <a:solidFill>
            <a:srgbClr val="4B3B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2697480"/>
            <a:ext cx="3474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B3BC7"/>
                </a:solidFill>
                <a:latin typeface="+mn-ea"/>
              </a:rPr>
              <a:t>💑 신혼부부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46120"/>
            <a:ext cx="34747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+mn-ea"/>
              </a:rPr>
              <a:t>✦  뉴노멀 세이프 웨딩 실현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721608"/>
            <a:ext cx="34747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A1A2E"/>
                </a:solidFill>
                <a:latin typeface="+mn-ea"/>
              </a:rPr>
              <a:t>✦  </a:t>
            </a:r>
            <a:r>
              <a:rPr sz="1100" b="0" i="0" dirty="0" err="1">
                <a:solidFill>
                  <a:srgbClr val="1A1A2E"/>
                </a:solidFill>
                <a:latin typeface="+mn-ea"/>
              </a:rPr>
              <a:t>특별한</a:t>
            </a:r>
            <a:r>
              <a:rPr sz="1100" b="0" i="0" dirty="0">
                <a:solidFill>
                  <a:srgbClr val="1A1A2E"/>
                </a:solidFill>
                <a:latin typeface="+mn-ea"/>
              </a:rPr>
              <a:t> </a:t>
            </a:r>
            <a:r>
              <a:rPr sz="1100" b="0" i="0" dirty="0" err="1">
                <a:solidFill>
                  <a:srgbClr val="1A1A2E"/>
                </a:solidFill>
                <a:latin typeface="+mn-ea"/>
              </a:rPr>
              <a:t>온라인</a:t>
            </a:r>
            <a:r>
              <a:rPr sz="1100" b="0" i="0" dirty="0">
                <a:solidFill>
                  <a:srgbClr val="1A1A2E"/>
                </a:solidFill>
                <a:latin typeface="+mn-ea"/>
              </a:rPr>
              <a:t> </a:t>
            </a:r>
            <a:r>
              <a:rPr sz="1100" b="0" i="0" dirty="0" err="1">
                <a:solidFill>
                  <a:srgbClr val="1A1A2E"/>
                </a:solidFill>
                <a:latin typeface="+mn-ea"/>
              </a:rPr>
              <a:t>결혼식</a:t>
            </a:r>
            <a:r>
              <a:rPr sz="1100" b="0" i="0" dirty="0">
                <a:solidFill>
                  <a:srgbClr val="1A1A2E"/>
                </a:solidFill>
                <a:latin typeface="+mn-ea"/>
              </a:rPr>
              <a:t> </a:t>
            </a:r>
            <a:r>
              <a:rPr sz="1100" b="0" i="0" dirty="0" err="1">
                <a:solidFill>
                  <a:srgbClr val="1A1A2E"/>
                </a:solidFill>
                <a:latin typeface="+mn-ea"/>
              </a:rPr>
              <a:t>연출</a:t>
            </a:r>
            <a:endParaRPr sz="1100" b="0" i="0" dirty="0">
              <a:solidFill>
                <a:srgbClr val="1A1A2E"/>
              </a:solidFill>
              <a:latin typeface="+mn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" y="4197096"/>
            <a:ext cx="34747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+mn-ea"/>
              </a:rPr>
              <a:t>✦  정확한 결혼식 정산 관리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672584"/>
            <a:ext cx="34747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+mn-ea"/>
              </a:rPr>
              <a:t>✦  참석 인원 사전 파악으로 낭비 없는 준비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148072"/>
            <a:ext cx="34747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+mn-ea"/>
              </a:rPr>
              <a:t>✦  방명록 DB를 통한 즉시 답례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2606040"/>
            <a:ext cx="3749039" cy="3200400"/>
          </a:xfrm>
          <a:prstGeom prst="rect">
            <a:avLst/>
          </a:prstGeom>
          <a:solidFill>
            <a:srgbClr val="FFF0F8"/>
          </a:solidFill>
          <a:ln>
            <a:solidFill>
              <a:srgbClr val="C218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343400" y="2606040"/>
            <a:ext cx="3749039" cy="73152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480560" y="2697480"/>
            <a:ext cx="3474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2185B"/>
                </a:solidFill>
                <a:latin typeface="+mn-ea"/>
              </a:rPr>
              <a:t>🏛️ 웨딩홀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246120"/>
            <a:ext cx="34747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+mn-ea"/>
              </a:rPr>
              <a:t>✦  차별화된 특화 서비스 제공으로 경쟁력 강화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721608"/>
            <a:ext cx="34747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+mn-ea"/>
              </a:rPr>
              <a:t>✦  정산 및 관리 업무 효율화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197096"/>
            <a:ext cx="34747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+mn-ea"/>
              </a:rPr>
              <a:t>✦  정확한 방문객 파악으로 운영 최적화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672584"/>
            <a:ext cx="34747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+mn-ea"/>
              </a:rPr>
              <a:t>✦  디지털 식권·답례 도입으로 인건비 절감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2606040"/>
            <a:ext cx="3749039" cy="3200400"/>
          </a:xfrm>
          <a:prstGeom prst="rect">
            <a:avLst/>
          </a:prstGeom>
          <a:solidFill>
            <a:srgbClr val="F0FFF4"/>
          </a:solidFill>
          <a:ln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229600" y="2606040"/>
            <a:ext cx="3749039" cy="73152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366760" y="2697480"/>
            <a:ext cx="3474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CAF50"/>
                </a:solidFill>
                <a:latin typeface="+mn-ea"/>
              </a:rPr>
              <a:t>🎊 하객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246120"/>
            <a:ext cx="34747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+mn-ea"/>
              </a:rPr>
              <a:t>✦  비대면 결혼식 참여 가능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3721608"/>
            <a:ext cx="34747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+mn-ea"/>
              </a:rPr>
              <a:t>✦  모바일을 통한 축의금 간편 송금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4197096"/>
            <a:ext cx="34747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+mn-ea"/>
              </a:rPr>
              <a:t>✦  결혼식 참석 여부 편리하게 전달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672584"/>
            <a:ext cx="34747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+mn-ea"/>
              </a:rPr>
              <a:t>✦  원하는 모바일 답례품 직접 선택 수령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989320"/>
            <a:ext cx="11247120" cy="594360"/>
          </a:xfrm>
          <a:prstGeom prst="rect">
            <a:avLst/>
          </a:prstGeom>
          <a:solidFill>
            <a:srgbClr val="FFFFFF"/>
          </a:solidFill>
          <a:ln>
            <a:solidFill>
              <a:srgbClr val="4B3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0080" y="6053328"/>
            <a:ext cx="108813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B3BC7"/>
                </a:solidFill>
                <a:latin typeface="+mn-ea"/>
              </a:rPr>
              <a:t>스마트 축의금 · 스마트 방명록 · 스마트 답례 — 스마트시대의 맞춤형 온앤오프 서비스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315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B3BC7"/>
                </a:solidFill>
                <a:latin typeface="+mn-ea"/>
              </a:rPr>
              <a:t>— Revenue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+mn-ea"/>
              </a:rPr>
              <a:t>다층 수익 구조로 안정적인 현금 흐름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515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C757D"/>
                </a:solidFill>
                <a:latin typeface="+mn-ea"/>
              </a:rPr>
              <a:t>서비스 패키지, 답례품 커미션, 데이터 이용료, 커머스까지 — 4가지 수익원이 시너지를 냅니다.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606040"/>
            <a:ext cx="3657600" cy="3017520"/>
          </a:xfrm>
          <a:prstGeom prst="rect">
            <a:avLst/>
          </a:prstGeom>
          <a:solidFill>
            <a:srgbClr val="FFFFFF"/>
          </a:solidFill>
          <a:ln>
            <a:solidFill>
              <a:srgbClr val="4B3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3657600" cy="73152"/>
          </a:xfrm>
          <a:prstGeom prst="rect">
            <a:avLst/>
          </a:prstGeom>
          <a:solidFill>
            <a:srgbClr val="4B3B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2697480"/>
            <a:ext cx="33832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B3BC7"/>
                </a:solidFill>
                <a:latin typeface="+mn-ea"/>
              </a:rPr>
              <a:t>STANDARD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27248"/>
            <a:ext cx="3383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+mn-ea"/>
              </a:rPr>
              <a:t>10만원 / 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03320"/>
            <a:ext cx="3291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+mn-ea"/>
              </a:rPr>
              <a:t>✓  모바일 청첩장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42232"/>
            <a:ext cx="3291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+mn-ea"/>
              </a:rPr>
              <a:t>✓  오픈뱅킹 축의금 결제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81144"/>
            <a:ext cx="3291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+mn-ea"/>
              </a:rPr>
              <a:t>✓  방명록 서비스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020056"/>
            <a:ext cx="3291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+mn-ea"/>
              </a:rPr>
              <a:t>✓  모바일 식사권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2606040"/>
            <a:ext cx="3657600" cy="3017520"/>
          </a:xfrm>
          <a:prstGeom prst="rect">
            <a:avLst/>
          </a:prstGeom>
          <a:solidFill>
            <a:srgbClr val="4B3BC7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343400" y="2606040"/>
            <a:ext cx="3657600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480560" y="2697480"/>
            <a:ext cx="33832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C430"/>
                </a:solidFill>
                <a:latin typeface="+mn-ea"/>
              </a:rPr>
              <a:t>DELUXE ★ BEST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127248"/>
            <a:ext cx="3383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+mn-ea"/>
              </a:rPr>
              <a:t>20만원 / 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703320"/>
            <a:ext cx="3291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+mn-ea"/>
              </a:rPr>
              <a:t>✓  Standard 전체 포함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142232"/>
            <a:ext cx="3291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+mn-ea"/>
              </a:rPr>
              <a:t>✓  모바일 답례 서비스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4581144"/>
            <a:ext cx="3291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+mn-ea"/>
              </a:rPr>
              <a:t>✓  답례품 선택 · 배송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5020056"/>
            <a:ext cx="3291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+mn-ea"/>
              </a:rPr>
              <a:t>✓  실시간 정산 대시보드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2606040"/>
            <a:ext cx="3657600" cy="3017520"/>
          </a:xfrm>
          <a:prstGeom prst="rect">
            <a:avLst/>
          </a:prstGeom>
          <a:solidFill>
            <a:srgbClr val="FFFFFF"/>
          </a:solidFill>
          <a:ln>
            <a:solidFill>
              <a:srgbClr val="4B3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229600" y="2606040"/>
            <a:ext cx="3657600" cy="73152"/>
          </a:xfrm>
          <a:prstGeom prst="rect">
            <a:avLst/>
          </a:prstGeom>
          <a:solidFill>
            <a:srgbClr val="4B3B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366760" y="2697480"/>
            <a:ext cx="33832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B3BC7"/>
                </a:solidFill>
                <a:latin typeface="+mn-ea"/>
              </a:rPr>
              <a:t>PREMIUM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3127248"/>
            <a:ext cx="3383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+mn-ea"/>
              </a:rPr>
              <a:t>30만원 / 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703320"/>
            <a:ext cx="3291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+mn-ea"/>
              </a:rPr>
              <a:t>✓  Deluxe 전체 포함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142232"/>
            <a:ext cx="3291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+mn-ea"/>
              </a:rPr>
              <a:t>✓  디스플레이 방명록 구축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581144"/>
            <a:ext cx="3291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+mn-ea"/>
              </a:rPr>
              <a:t>✓  웨딩홀 관리자 페이지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5020056"/>
            <a:ext cx="3291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+mn-ea"/>
              </a:rPr>
              <a:t>✓  B2B 통합 관리 솔루션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806440"/>
            <a:ext cx="3657600" cy="777240"/>
          </a:xfrm>
          <a:prstGeom prst="rect">
            <a:avLst/>
          </a:prstGeom>
          <a:solidFill>
            <a:srgbClr val="FFF8E1"/>
          </a:solidFill>
          <a:ln>
            <a:solidFill>
              <a:srgbClr val="F4C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57200" y="5806440"/>
            <a:ext cx="91440" cy="777240"/>
          </a:xfrm>
          <a:prstGeom prst="rect">
            <a:avLst/>
          </a:prstGeom>
          <a:solidFill>
            <a:srgbClr val="F4C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94360" y="5824728"/>
            <a:ext cx="1828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C430"/>
                </a:solidFill>
                <a:latin typeface="+mn-ea"/>
              </a:rPr>
              <a:t>답례품 커미션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77440" y="5824728"/>
            <a:ext cx="1554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A1A2E"/>
                </a:solidFill>
                <a:latin typeface="+mn-ea"/>
              </a:rPr>
              <a:t>판매액의 10%+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5806440"/>
            <a:ext cx="3657600" cy="777240"/>
          </a:xfrm>
          <a:prstGeom prst="rect">
            <a:avLst/>
          </a:prstGeom>
          <a:solidFill>
            <a:srgbClr val="E8F5E9"/>
          </a:solidFill>
          <a:ln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4343400" y="5806440"/>
            <a:ext cx="91440" cy="77724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480560" y="5824728"/>
            <a:ext cx="1828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AF50"/>
                </a:solidFill>
                <a:latin typeface="+mn-ea"/>
              </a:rPr>
              <a:t>데이터 이용료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5824728"/>
            <a:ext cx="1554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A1A2E"/>
                </a:solidFill>
                <a:latin typeface="+mn-ea"/>
              </a:rPr>
              <a:t>건당 10,000원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0" y="5806440"/>
            <a:ext cx="3657600" cy="777240"/>
          </a:xfrm>
          <a:prstGeom prst="rect">
            <a:avLst/>
          </a:prstGeom>
          <a:solidFill>
            <a:srgbClr val="EEF0FF"/>
          </a:solidFill>
          <a:ln>
            <a:solidFill>
              <a:srgbClr val="4B3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8229600" y="5806440"/>
            <a:ext cx="91440" cy="777240"/>
          </a:xfrm>
          <a:prstGeom prst="rect">
            <a:avLst/>
          </a:prstGeom>
          <a:solidFill>
            <a:srgbClr val="4B3B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366760" y="5824728"/>
            <a:ext cx="1828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B3BC7"/>
                </a:solidFill>
                <a:latin typeface="+mn-ea"/>
              </a:rPr>
              <a:t>상품 몰 이용료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49840" y="5824728"/>
            <a:ext cx="1554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A1A2E"/>
                </a:solidFill>
                <a:latin typeface="+mn-ea"/>
              </a:rPr>
              <a:t>연 10만원 멤버십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315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B3BC7"/>
                </a:solidFill>
                <a:latin typeface="+mn-ea"/>
              </a:rPr>
              <a:t>— Traction ·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+mn-ea"/>
              </a:rPr>
              <a:t>이미 시장이 선택한 서비스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515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C757D"/>
                </a:solidFill>
                <a:latin typeface="+mn-ea"/>
              </a:rPr>
              <a:t>크라우드펀딩, 웨딩박람회 연속 참가로 검증된 시장 수요. 상담 고객의 80%가 예약으로 전환됩니다.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606040"/>
            <a:ext cx="274320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4B3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3767328"/>
            <a:ext cx="2743200" cy="73152"/>
          </a:xfrm>
          <a:prstGeom prst="rect">
            <a:avLst/>
          </a:prstGeom>
          <a:solidFill>
            <a:srgbClr val="4B3B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2670048"/>
            <a:ext cx="25603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4B3BC7"/>
                </a:solidFill>
                <a:latin typeface="+mn-ea"/>
              </a:rPr>
              <a:t>80%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83280"/>
            <a:ext cx="25603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7D"/>
                </a:solidFill>
                <a:latin typeface="+mn-ea"/>
              </a:rPr>
              <a:t>상담 → 예약 전환율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606040"/>
            <a:ext cx="274320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4B3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383280" y="3767328"/>
            <a:ext cx="2743200" cy="73152"/>
          </a:xfrm>
          <a:prstGeom prst="rect">
            <a:avLst/>
          </a:prstGeom>
          <a:solidFill>
            <a:srgbClr val="4B3B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474720" y="2670048"/>
            <a:ext cx="25603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4B3BC7"/>
                </a:solidFill>
                <a:latin typeface="+mn-ea"/>
              </a:rPr>
              <a:t>3회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383280"/>
            <a:ext cx="25603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7D"/>
                </a:solidFill>
                <a:latin typeface="+mn-ea"/>
              </a:rPr>
              <a:t>박람회 · 펀딩 참가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606040"/>
            <a:ext cx="274320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4B3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309360" y="3767328"/>
            <a:ext cx="2743200" cy="73152"/>
          </a:xfrm>
          <a:prstGeom prst="rect">
            <a:avLst/>
          </a:prstGeom>
          <a:solidFill>
            <a:srgbClr val="4B3B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800" y="2670048"/>
            <a:ext cx="25603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4B3BC7"/>
                </a:solidFill>
                <a:latin typeface="+mn-ea"/>
              </a:rPr>
              <a:t>5.5백만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383280"/>
            <a:ext cx="25603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7D"/>
                </a:solidFill>
                <a:latin typeface="+mn-ea"/>
              </a:rPr>
              <a:t>크라우드펀딩 목표액(원)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2606040"/>
            <a:ext cx="274320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4B3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9235440" y="3767328"/>
            <a:ext cx="2743200" cy="73152"/>
          </a:xfrm>
          <a:prstGeom prst="rect">
            <a:avLst/>
          </a:prstGeom>
          <a:solidFill>
            <a:srgbClr val="4B3B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326880" y="2670048"/>
            <a:ext cx="25603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4B3BC7"/>
                </a:solidFill>
                <a:latin typeface="+mn-ea"/>
              </a:rPr>
              <a:t>43명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3383280"/>
            <a:ext cx="25603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7D"/>
                </a:solidFill>
                <a:latin typeface="+mn-ea"/>
              </a:rPr>
              <a:t>크라우드펀딩 서포터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069080"/>
            <a:ext cx="3657600" cy="2468880"/>
          </a:xfrm>
          <a:prstGeom prst="rect">
            <a:avLst/>
          </a:prstGeom>
          <a:solidFill>
            <a:srgbClr val="FFFFFF"/>
          </a:solidFill>
          <a:ln>
            <a:solidFill>
              <a:srgbClr val="EEF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94360" y="4160520"/>
            <a:ext cx="33832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B3BC7"/>
                </a:solidFill>
                <a:latin typeface="+mn-ea"/>
              </a:rPr>
              <a:t>2021.10 — 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507992"/>
            <a:ext cx="33832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+mn-ea"/>
              </a:rPr>
              <a:t>크라우드펀딩 진행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983480"/>
            <a:ext cx="33832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  <a:latin typeface="+mn-ea"/>
              </a:rPr>
              <a:t>언택트 시대 새로운 웨딩 서비스로 시장 검증. 목표액 달성으로 사업 타당성 확인.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0" y="4069080"/>
            <a:ext cx="3657600" cy="2468880"/>
          </a:xfrm>
          <a:prstGeom prst="rect">
            <a:avLst/>
          </a:prstGeom>
          <a:solidFill>
            <a:srgbClr val="FFFFFF"/>
          </a:solidFill>
          <a:ln>
            <a:solidFill>
              <a:srgbClr val="EEF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480560" y="4160520"/>
            <a:ext cx="33832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B3BC7"/>
                </a:solidFill>
                <a:latin typeface="+mn-ea"/>
              </a:rPr>
              <a:t>2021.02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4507992"/>
            <a:ext cx="33832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+mn-ea"/>
              </a:rPr>
              <a:t>웨딩박람회 사전 예약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4983480"/>
            <a:ext cx="33832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  <a:latin typeface="+mn-ea"/>
              </a:rPr>
              <a:t>웨딩박람회 참가로 예비 신혼부부 대상 서비스 소개 및 사전 고객 예약 확보.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4069080"/>
            <a:ext cx="3657600" cy="2468880"/>
          </a:xfrm>
          <a:prstGeom prst="rect">
            <a:avLst/>
          </a:prstGeom>
          <a:solidFill>
            <a:srgbClr val="FFFFFF"/>
          </a:solidFill>
          <a:ln>
            <a:solidFill>
              <a:srgbClr val="EEF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366760" y="4160520"/>
            <a:ext cx="33832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B3BC7"/>
                </a:solidFill>
                <a:latin typeface="+mn-ea"/>
              </a:rPr>
              <a:t>2022.07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4507992"/>
            <a:ext cx="33832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+mn-ea"/>
              </a:rPr>
              <a:t>아이티웨딩박람회 참가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4983480"/>
            <a:ext cx="33832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  <a:latin typeface="+mn-ea"/>
              </a:rPr>
              <a:t>IT 웨딩 박람회 참가. 상담 고객 중 80% 예약 완료 — 강력한 제품-시장 적합성 확인.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315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29BFE"/>
                </a:solidFill>
                <a:latin typeface="+mn-ea"/>
              </a:rPr>
              <a:t>— Financial Projection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+mn-ea"/>
              </a:rPr>
              <a:t>2030년 매출 793억 목표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29BFE"/>
                </a:solidFill>
                <a:latin typeface="+mn-ea"/>
              </a:rPr>
              <a:t>경조 서비스 이용료 확보 및 생애주기별 복지 서비스 확대, 해외 시장 진출을 통한 매출 증대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5669280"/>
            <a:ext cx="10698480" cy="27432"/>
          </a:xfrm>
          <a:prstGeom prst="rect">
            <a:avLst/>
          </a:prstGeom>
          <a:solidFill>
            <a:srgbClr val="44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371600" y="5435193"/>
            <a:ext cx="1371600" cy="234086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80160" y="5023713"/>
            <a:ext cx="1554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29BFE"/>
                </a:solidFill>
                <a:latin typeface="+mn-ea"/>
              </a:rPr>
              <a:t>62.9억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5742432"/>
            <a:ext cx="1554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+mn-ea"/>
              </a:rPr>
              <a:t>2027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4732934"/>
            <a:ext cx="1371600" cy="936345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91840" y="4321454"/>
            <a:ext cx="1554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29BFE"/>
                </a:solidFill>
                <a:latin typeface="+mn-ea"/>
              </a:rPr>
              <a:t>254억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5742432"/>
            <a:ext cx="1554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+mn-ea"/>
              </a:rPr>
              <a:t>2028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4960" y="3913632"/>
            <a:ext cx="1371600" cy="1755648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03520" y="3502152"/>
            <a:ext cx="1554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29BFE"/>
                </a:solidFill>
                <a:latin typeface="+mn-ea"/>
              </a:rPr>
              <a:t>479억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5742432"/>
            <a:ext cx="1554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+mn-ea"/>
              </a:rPr>
              <a:t>2029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2743200"/>
            <a:ext cx="1371600" cy="2926080"/>
          </a:xfrm>
          <a:prstGeom prst="rect">
            <a:avLst/>
          </a:prstGeom>
          <a:solidFill>
            <a:srgbClr val="F4C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15200" y="2331720"/>
            <a:ext cx="1554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4C430"/>
                </a:solidFill>
                <a:latin typeface="+mn-ea"/>
              </a:rPr>
              <a:t>793억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5742432"/>
            <a:ext cx="1554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+mn-ea"/>
              </a:rPr>
              <a:t>2030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172200"/>
            <a:ext cx="3657600" cy="594360"/>
          </a:xfrm>
          <a:prstGeom prst="rect">
            <a:avLst/>
          </a:prstGeom>
          <a:solidFill>
            <a:srgbClr val="222244"/>
          </a:solidFill>
          <a:ln>
            <a:solidFill>
              <a:srgbClr val="44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" y="619048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29BFE"/>
                </a:solidFill>
                <a:latin typeface="+mn-ea"/>
              </a:rPr>
              <a:t>매출 가정 — 결혼식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00800"/>
            <a:ext cx="3474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+mn-ea"/>
              </a:rPr>
              <a:t>예식장 1개 연 300건 기준
2027: 25,000건 → 2030: 38,267건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6172200"/>
            <a:ext cx="3657600" cy="594360"/>
          </a:xfrm>
          <a:prstGeom prst="rect">
            <a:avLst/>
          </a:prstGeom>
          <a:solidFill>
            <a:srgbClr val="222244"/>
          </a:solidFill>
          <a:ln>
            <a:solidFill>
              <a:srgbClr val="44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434840" y="619048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29BFE"/>
                </a:solidFill>
                <a:latin typeface="+mn-ea"/>
              </a:rPr>
              <a:t>매출 가정 — 장례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6400800"/>
            <a:ext cx="3474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+mn-ea"/>
              </a:rPr>
              <a:t>연 37만 건 기준
2027: 1% 점유 → 2030: 1.5%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6172200"/>
            <a:ext cx="3657600" cy="594360"/>
          </a:xfrm>
          <a:prstGeom prst="rect">
            <a:avLst/>
          </a:prstGeom>
          <a:solidFill>
            <a:srgbClr val="222244"/>
          </a:solidFill>
          <a:ln>
            <a:solidFill>
              <a:srgbClr val="44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321040" y="619048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29BFE"/>
                </a:solidFill>
                <a:latin typeface="+mn-ea"/>
              </a:rPr>
              <a:t>해외 매출 (2028~)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6400800"/>
            <a:ext cx="3474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+mn-ea"/>
              </a:rPr>
              <a:t>2028: +50억 / 2029: +80억
2030: +85억 (동남아·미주)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315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B3BC7"/>
                </a:solidFill>
                <a:latin typeface="+mn-ea"/>
                <a:cs typeface="Pretendard" panose="02000503000000020004" pitchFamily="2" charset="-127"/>
              </a:rPr>
              <a:t>— Go-to-Market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+mn-ea"/>
                <a:cs typeface="Pretendard" panose="02000503000000020004" pitchFamily="2" charset="-127"/>
              </a:rPr>
              <a:t>단계별 시장 확장 전략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515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C757D"/>
                </a:solidFill>
                <a:latin typeface="+mn-ea"/>
                <a:cs typeface="Pretendard" panose="02000503000000020004" pitchFamily="2" charset="-127"/>
              </a:rPr>
              <a:t>웨딩 시장 검증 → 경조 시장 확장 → 데이터·글로벌 시장 진출의 3단계 로드맵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852928"/>
            <a:ext cx="9144000" cy="73152"/>
          </a:xfrm>
          <a:prstGeom prst="rect">
            <a:avLst/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7" name="Oval 6"/>
          <p:cNvSpPr/>
          <p:nvPr/>
        </p:nvSpPr>
        <p:spPr>
          <a:xfrm>
            <a:off x="1737360" y="2606040"/>
            <a:ext cx="548640" cy="548640"/>
          </a:xfrm>
          <a:prstGeom prst="ellipse">
            <a:avLst/>
          </a:prstGeom>
          <a:solidFill>
            <a:srgbClr val="4B3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37360" y="2624328"/>
            <a:ext cx="5486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+mn-ea"/>
                <a:cs typeface="Pretendard" panose="02000503000000020004" pitchFamily="2" charset="-127"/>
              </a:rPr>
              <a:t>1단계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37560"/>
            <a:ext cx="3657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B3BC7"/>
                </a:solidFill>
                <a:latin typeface="+mn-ea"/>
                <a:cs typeface="Pretendard" panose="02000503000000020004" pitchFamily="2" charset="-127"/>
              </a:rPr>
              <a:t>2025년 ~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57600"/>
            <a:ext cx="3657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+mn-ea"/>
                <a:cs typeface="Pretendard" panose="02000503000000020004" pitchFamily="2" charset="-127"/>
              </a:rPr>
              <a:t>웨딩 시장 진입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60520"/>
            <a:ext cx="3657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  <a:latin typeface="+mn-ea"/>
                <a:cs typeface="Pretendard" panose="02000503000000020004" pitchFamily="2" charset="-127"/>
              </a:rPr>
              <a:t>▸  컨설팅 · 플래너 협회 제휴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44568"/>
            <a:ext cx="3657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  <a:latin typeface="+mn-ea"/>
                <a:cs typeface="Pretendard" panose="02000503000000020004" pitchFamily="2" charset="-127"/>
              </a:rPr>
              <a:t>▸  웨딩홀 · 복지몰 B2B 계약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928616"/>
            <a:ext cx="3657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  <a:latin typeface="+mn-ea"/>
                <a:cs typeface="Pretendard" panose="02000503000000020004" pitchFamily="2" charset="-127"/>
              </a:rPr>
              <a:t>▸  종이 청첩장 업체 파트너십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312664"/>
            <a:ext cx="3657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  <a:latin typeface="+mn-ea"/>
                <a:cs typeface="Pretendard" panose="02000503000000020004" pitchFamily="2" charset="-127"/>
              </a:rPr>
              <a:t>▸  답례품 업체 제휴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696712"/>
            <a:ext cx="3657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  <a:latin typeface="+mn-ea"/>
                <a:cs typeface="Pretendard" panose="02000503000000020004" pitchFamily="2" charset="-127"/>
              </a:rPr>
              <a:t>▸  시범 서비스 운영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126480"/>
            <a:ext cx="3657600" cy="502920"/>
          </a:xfrm>
          <a:prstGeom prst="rect">
            <a:avLst/>
          </a:prstGeom>
          <a:solidFill>
            <a:srgbClr val="EEF0FF"/>
          </a:solidFill>
          <a:ln>
            <a:solidFill>
              <a:srgbClr val="4B3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0080" y="6172200"/>
            <a:ext cx="3474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B3BC7"/>
                </a:solidFill>
                <a:latin typeface="+mn-ea"/>
                <a:cs typeface="Pretendard" panose="02000503000000020004" pitchFamily="2" charset="-127"/>
              </a:rPr>
              <a:t>시범 서비스 론칭</a:t>
            </a:r>
          </a:p>
        </p:txBody>
      </p:sp>
      <p:sp>
        <p:nvSpPr>
          <p:cNvPr id="18" name="Oval 17"/>
          <p:cNvSpPr/>
          <p:nvPr/>
        </p:nvSpPr>
        <p:spPr>
          <a:xfrm>
            <a:off x="5577840" y="2606040"/>
            <a:ext cx="548640" cy="54864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577840" y="2624328"/>
            <a:ext cx="5486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+mn-ea"/>
                <a:cs typeface="Pretendard" panose="02000503000000020004" pitchFamily="2" charset="-127"/>
              </a:rPr>
              <a:t>2단계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337560"/>
            <a:ext cx="3657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5CE7"/>
                </a:solidFill>
                <a:latin typeface="+mn-ea"/>
                <a:cs typeface="Pretendard" panose="02000503000000020004" pitchFamily="2" charset="-127"/>
              </a:rPr>
              <a:t>2026년 ~ 2027년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3657600"/>
            <a:ext cx="3657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+mn-ea"/>
                <a:cs typeface="Pretendard" panose="02000503000000020004" pitchFamily="2" charset="-127"/>
              </a:rPr>
              <a:t>경조 시장 진입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160520"/>
            <a:ext cx="3657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  <a:latin typeface="+mn-ea"/>
                <a:cs typeface="Pretendard" panose="02000503000000020004" pitchFamily="2" charset="-127"/>
              </a:rPr>
              <a:t>▸  상조회사 · 장례식장 확장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544568"/>
            <a:ext cx="3657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  <a:latin typeface="+mn-ea"/>
                <a:cs typeface="Pretendard" panose="02000503000000020004" pitchFamily="2" charset="-127"/>
              </a:rPr>
              <a:t>▸  복지몰 · 구 복지센터 제휴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928616"/>
            <a:ext cx="3657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  <a:latin typeface="+mn-ea"/>
                <a:cs typeface="Pretendard" panose="02000503000000020004" pitchFamily="2" charset="-127"/>
              </a:rPr>
              <a:t>▸  공공 데이터 매핑 시작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5312664"/>
            <a:ext cx="3657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  <a:latin typeface="+mn-ea"/>
                <a:cs typeface="Pretendard" panose="02000503000000020004" pitchFamily="2" charset="-127"/>
              </a:rPr>
              <a:t>▸  컨설팅 · 답례품 업체 확대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5696712"/>
            <a:ext cx="3657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  <a:latin typeface="+mn-ea"/>
                <a:cs typeface="Pretendard" panose="02000503000000020004" pitchFamily="2" charset="-127"/>
              </a:rPr>
              <a:t>▸  마케팅 본격화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89120" y="6126480"/>
            <a:ext cx="3657600" cy="502920"/>
          </a:xfrm>
          <a:prstGeom prst="rect">
            <a:avLst/>
          </a:prstGeom>
          <a:solidFill>
            <a:srgbClr val="EEF0FF"/>
          </a:solidFill>
          <a:ln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480560" y="6172200"/>
            <a:ext cx="3474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6C5CE7"/>
                </a:solidFill>
                <a:latin typeface="+mn-ea"/>
                <a:cs typeface="Pretendard" panose="02000503000000020004" pitchFamily="2" charset="-127"/>
              </a:rPr>
              <a:t>연간 5,640건 거래</a:t>
            </a:r>
          </a:p>
        </p:txBody>
      </p:sp>
      <p:sp>
        <p:nvSpPr>
          <p:cNvPr id="29" name="Oval 28"/>
          <p:cNvSpPr/>
          <p:nvPr/>
        </p:nvSpPr>
        <p:spPr>
          <a:xfrm>
            <a:off x="9418320" y="2606040"/>
            <a:ext cx="548640" cy="548640"/>
          </a:xfrm>
          <a:prstGeom prst="ellipse">
            <a:avLst/>
          </a:prstGeom>
          <a:solidFill>
            <a:srgbClr val="3A2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418320" y="2624328"/>
            <a:ext cx="5486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+mn-ea"/>
                <a:cs typeface="Pretendard" panose="02000503000000020004" pitchFamily="2" charset="-127"/>
              </a:rPr>
              <a:t>3단계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3337560"/>
            <a:ext cx="3657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A2DA0"/>
                </a:solidFill>
                <a:latin typeface="+mn-ea"/>
                <a:cs typeface="Pretendard" panose="02000503000000020004" pitchFamily="2" charset="-127"/>
              </a:rPr>
              <a:t>2028년 ~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3657600"/>
            <a:ext cx="3657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+mn-ea"/>
                <a:cs typeface="Pretendard" panose="02000503000000020004" pitchFamily="2" charset="-127"/>
              </a:rPr>
              <a:t>데이터·글로벌 진출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4160520"/>
            <a:ext cx="3657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  <a:latin typeface="+mn-ea"/>
                <a:cs typeface="Pretendard" panose="02000503000000020004" pitchFamily="2" charset="-127"/>
              </a:rPr>
              <a:t>▸  AI 마이데이터 서비스 론칭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4544568"/>
            <a:ext cx="3657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  <a:latin typeface="+mn-ea"/>
                <a:cs typeface="Pretendard" panose="02000503000000020004" pitchFamily="2" charset="-127"/>
              </a:rPr>
              <a:t>▸  커머스 연계 생태계 구축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928616"/>
            <a:ext cx="3657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  <a:latin typeface="+mn-ea"/>
                <a:cs typeface="Pretendard" panose="02000503000000020004" pitchFamily="2" charset="-127"/>
              </a:rPr>
              <a:t>▸  베트남 · 동남아 시장 진출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5312664"/>
            <a:ext cx="3657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  <a:latin typeface="+mn-ea"/>
                <a:cs typeface="Pretendard" panose="02000503000000020004" pitchFamily="2" charset="-127"/>
              </a:rPr>
              <a:t>▸  KOTRA · 글로벌 파트너십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5696712"/>
            <a:ext cx="3657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  <a:latin typeface="+mn-ea"/>
                <a:cs typeface="Pretendard" panose="02000503000000020004" pitchFamily="2" charset="-127"/>
              </a:rPr>
              <a:t>▸  미주 시장 현지화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0" y="6126480"/>
            <a:ext cx="3657600" cy="502920"/>
          </a:xfrm>
          <a:prstGeom prst="rect">
            <a:avLst/>
          </a:prstGeom>
          <a:solidFill>
            <a:srgbClr val="EEF0FF"/>
          </a:solidFill>
          <a:ln>
            <a:solidFill>
              <a:srgbClr val="3A2D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321040" y="6172200"/>
            <a:ext cx="3474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A2DA0"/>
                </a:solidFill>
                <a:latin typeface="+mn-ea"/>
                <a:cs typeface="Pretendard" panose="02000503000000020004" pitchFamily="2" charset="-127"/>
              </a:rPr>
              <a:t>연간 202,200건 거래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A2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315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29BFE"/>
                </a:solidFill>
                <a:latin typeface="+mn-ea"/>
              </a:rPr>
              <a:t>— Investment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+mn-ea"/>
              </a:rPr>
              <a:t>총 2억원 투자 유치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29BFE"/>
                </a:solidFill>
                <a:latin typeface="+mn-ea"/>
              </a:rPr>
              <a:t>서비스 고도화 · 고용창출 · 금융라이센스 획득을 통한 안정적 운영 및 기업 성장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606040"/>
            <a:ext cx="2743200" cy="1828800"/>
          </a:xfrm>
          <a:prstGeom prst="rect">
            <a:avLst/>
          </a:prstGeom>
          <a:solidFill>
            <a:srgbClr val="332288"/>
          </a:solidFill>
          <a:ln>
            <a:solidFill>
              <a:srgbClr val="665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2697480"/>
            <a:ext cx="24688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A1A2E"/>
                </a:solidFill>
                <a:latin typeface="+mn-ea"/>
              </a:rPr>
              <a:t>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91840"/>
            <a:ext cx="2560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A29BFE"/>
                </a:solidFill>
                <a:latin typeface="+mn-ea"/>
              </a:rPr>
              <a:t>2,000만원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40480"/>
            <a:ext cx="2560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+mn-ea"/>
              </a:rPr>
              <a:t>서비스 개발 고도화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606040"/>
            <a:ext cx="2743200" cy="1828800"/>
          </a:xfrm>
          <a:prstGeom prst="rect">
            <a:avLst/>
          </a:prstGeom>
          <a:solidFill>
            <a:srgbClr val="332288"/>
          </a:solidFill>
          <a:ln>
            <a:solidFill>
              <a:srgbClr val="665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20440" y="2697480"/>
            <a:ext cx="24688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A1A2E"/>
                </a:solidFill>
                <a:latin typeface="+mn-ea"/>
              </a:rPr>
              <a:t>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291840"/>
            <a:ext cx="2560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A29BFE"/>
                </a:solidFill>
                <a:latin typeface="+mn-ea"/>
              </a:rPr>
              <a:t>1억 2,000만원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840480"/>
            <a:ext cx="2560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+mn-ea"/>
              </a:rPr>
              <a:t>인건비 및 운영비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606040"/>
            <a:ext cx="2743200" cy="1828800"/>
          </a:xfrm>
          <a:prstGeom prst="rect">
            <a:avLst/>
          </a:prstGeom>
          <a:solidFill>
            <a:srgbClr val="332288"/>
          </a:solidFill>
          <a:ln>
            <a:solidFill>
              <a:srgbClr val="665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46520" y="2697480"/>
            <a:ext cx="24688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A1A2E"/>
                </a:solidFill>
                <a:latin typeface="+mn-ea"/>
              </a:rPr>
              <a:t>🖥️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291840"/>
            <a:ext cx="2560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A29BFE"/>
                </a:solidFill>
                <a:latin typeface="+mn-ea"/>
              </a:rPr>
              <a:t>4,000만원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840480"/>
            <a:ext cx="2560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+mn-ea"/>
              </a:rPr>
              <a:t>디스플레이 구축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2606040"/>
            <a:ext cx="2743200" cy="1828800"/>
          </a:xfrm>
          <a:prstGeom prst="rect">
            <a:avLst/>
          </a:prstGeom>
          <a:solidFill>
            <a:srgbClr val="332288"/>
          </a:solidFill>
          <a:ln>
            <a:solidFill>
              <a:srgbClr val="665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372600" y="2697480"/>
            <a:ext cx="24688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A1A2E"/>
                </a:solidFill>
                <a:latin typeface="+mn-ea"/>
              </a:rPr>
              <a:t>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3291840"/>
            <a:ext cx="2560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A29BFE"/>
                </a:solidFill>
                <a:latin typeface="+mn-ea"/>
              </a:rPr>
              <a:t>2,000만원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3840480"/>
            <a:ext cx="2560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+mn-ea"/>
              </a:rPr>
              <a:t>시장 개척 비용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709160"/>
            <a:ext cx="11247120" cy="1463040"/>
          </a:xfrm>
          <a:prstGeom prst="rect">
            <a:avLst/>
          </a:prstGeom>
          <a:solidFill>
            <a:srgbClr val="221166"/>
          </a:solidFill>
          <a:ln>
            <a:solidFill>
              <a:srgbClr val="88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0080" y="4846320"/>
            <a:ext cx="228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+mn-ea"/>
              </a:rPr>
              <a:t>₩2억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4846320"/>
            <a:ext cx="822960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FF"/>
                </a:solidFill>
                <a:latin typeface="+mn-ea"/>
              </a:rPr>
              <a:t>이번 투자를 통해 서비스 완성도를 높이고 B2B 파트너십을 본격화하여
웨딩 시장 점유율을 빠르게 확보합니다.
금융 라이센스 획득 후 총 5억원 Series A를 목표로 스케일업 준비를 완료합니다.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315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29BFE"/>
                </a:solidFill>
                <a:latin typeface="+mn-ea"/>
              </a:rPr>
              <a:t>— Global 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+mn-ea"/>
              </a:rPr>
              <a:t>한국에서 검증, 아시아·미주로 확장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29BFE"/>
                </a:solidFill>
                <a:latin typeface="+mn-ea"/>
              </a:rPr>
              <a:t>K-웨딩 문화의 글로벌 확산과 함께 MARRYWELL도 해외 시장을 공략합니다.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606040"/>
            <a:ext cx="3657600" cy="3200400"/>
          </a:xfrm>
          <a:prstGeom prst="rect">
            <a:avLst/>
          </a:prstGeom>
          <a:solidFill>
            <a:srgbClr val="222244"/>
          </a:solidFill>
          <a:ln>
            <a:solidFill>
              <a:srgbClr val="444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3657600" cy="73152"/>
          </a:xfrm>
          <a:prstGeom prst="rect">
            <a:avLst/>
          </a:prstGeom>
          <a:solidFill>
            <a:srgbClr val="4B3B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2715768"/>
            <a:ext cx="33832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29BFE"/>
                </a:solidFill>
                <a:latin typeface="+mn-ea"/>
              </a:rPr>
              <a:t>PHASE 1 · 2023.06~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90672"/>
            <a:ext cx="33832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+mn-ea"/>
              </a:rPr>
              <a:t>베트남 시장 진출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611880"/>
            <a:ext cx="3383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FF"/>
                </a:solidFill>
                <a:latin typeface="+mn-ea"/>
              </a:rPr>
              <a:t>→  Vietnam Startup Wheel 프로그램 연계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069080"/>
            <a:ext cx="3383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FF"/>
                </a:solidFill>
                <a:latin typeface="+mn-ea"/>
              </a:rPr>
              <a:t>→  본투글로벌 스타트업 프로그램 활용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526280"/>
            <a:ext cx="3383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FF"/>
                </a:solidFill>
                <a:latin typeface="+mn-ea"/>
              </a:rPr>
              <a:t>→  해외 교포 대상 웨딩 시장 진출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349240"/>
            <a:ext cx="3657600" cy="457200"/>
          </a:xfrm>
          <a:prstGeom prst="rect">
            <a:avLst/>
          </a:prstGeom>
          <a:solidFill>
            <a:srgbClr val="332277"/>
          </a:solidFill>
          <a:ln>
            <a:solidFill>
              <a:srgbClr val="88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5376672"/>
            <a:ext cx="3474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29BFE"/>
                </a:solidFill>
                <a:latin typeface="+mn-ea"/>
              </a:rPr>
              <a:t>연간 50만쌍의 1% 타깃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2606040"/>
            <a:ext cx="3657600" cy="3200400"/>
          </a:xfrm>
          <a:prstGeom prst="rect">
            <a:avLst/>
          </a:prstGeom>
          <a:solidFill>
            <a:srgbClr val="222244"/>
          </a:solidFill>
          <a:ln>
            <a:solidFill>
              <a:srgbClr val="444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343400" y="2606040"/>
            <a:ext cx="3657600" cy="73152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480560" y="2715768"/>
            <a:ext cx="33832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29BFE"/>
                </a:solidFill>
                <a:latin typeface="+mn-ea"/>
              </a:rPr>
              <a:t>PHASE 2 · 2023~2024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090672"/>
            <a:ext cx="33832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+mn-ea"/>
              </a:rPr>
              <a:t>동남아 확장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611880"/>
            <a:ext cx="3383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FF"/>
                </a:solidFill>
                <a:latin typeface="+mn-ea"/>
              </a:rPr>
              <a:t>→  KOTRA 연계 프로그램 통한 진출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069080"/>
            <a:ext cx="3383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FF"/>
                </a:solidFill>
                <a:latin typeface="+mn-ea"/>
              </a:rPr>
              <a:t>→  해외 마케팅 Agency 협약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526280"/>
            <a:ext cx="3383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FF"/>
                </a:solidFill>
                <a:latin typeface="+mn-ea"/>
              </a:rPr>
              <a:t>→  싱가폴 등 동남아 시장 공략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5349240"/>
            <a:ext cx="3657600" cy="457200"/>
          </a:xfrm>
          <a:prstGeom prst="rect">
            <a:avLst/>
          </a:prstGeom>
          <a:solidFill>
            <a:srgbClr val="332277"/>
          </a:solidFill>
          <a:ln>
            <a:solidFill>
              <a:srgbClr val="88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434840" y="5376672"/>
            <a:ext cx="3474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29BFE"/>
                </a:solidFill>
                <a:latin typeface="+mn-ea"/>
              </a:rPr>
              <a:t>28,329쌍의 10% 타깃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2606040"/>
            <a:ext cx="3657600" cy="3200400"/>
          </a:xfrm>
          <a:prstGeom prst="rect">
            <a:avLst/>
          </a:prstGeom>
          <a:solidFill>
            <a:srgbClr val="222244"/>
          </a:solidFill>
          <a:ln>
            <a:solidFill>
              <a:srgbClr val="444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8229600" y="2606040"/>
            <a:ext cx="3657600" cy="73152"/>
          </a:xfrm>
          <a:prstGeom prst="rect">
            <a:avLst/>
          </a:prstGeom>
          <a:solidFill>
            <a:srgbClr val="3A2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366760" y="2715768"/>
            <a:ext cx="33832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29BFE"/>
                </a:solidFill>
                <a:latin typeface="+mn-ea"/>
              </a:rPr>
              <a:t>PHASE 3 · 2025~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3090672"/>
            <a:ext cx="33832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+mn-ea"/>
              </a:rPr>
              <a:t>미주 시장 진입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3611880"/>
            <a:ext cx="3383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FF"/>
                </a:solidFill>
                <a:latin typeface="+mn-ea"/>
              </a:rPr>
              <a:t>→  글로벌 업체 제휴를 통한 진출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4069080"/>
            <a:ext cx="3383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FF"/>
                </a:solidFill>
                <a:latin typeface="+mn-ea"/>
              </a:rPr>
              <a:t>→  미주 시장 맞춤 현지화 시스템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526280"/>
            <a:ext cx="3383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FF"/>
                </a:solidFill>
                <a:latin typeface="+mn-ea"/>
              </a:rPr>
              <a:t>→  아시아 및 미주 동시 공략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5349240"/>
            <a:ext cx="3657600" cy="457200"/>
          </a:xfrm>
          <a:prstGeom prst="rect">
            <a:avLst/>
          </a:prstGeom>
          <a:solidFill>
            <a:srgbClr val="332277"/>
          </a:solidFill>
          <a:ln>
            <a:solidFill>
              <a:srgbClr val="88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321040" y="5376672"/>
            <a:ext cx="3474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29BFE"/>
                </a:solidFill>
                <a:latin typeface="+mn-ea"/>
              </a:rPr>
              <a:t>200만 건의 10% 타깃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989320"/>
            <a:ext cx="11247120" cy="594360"/>
          </a:xfrm>
          <a:prstGeom prst="rect">
            <a:avLst/>
          </a:prstGeom>
          <a:solidFill>
            <a:srgbClr val="221155"/>
          </a:solidFill>
          <a:ln>
            <a:solidFill>
              <a:srgbClr val="665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31520" y="6053328"/>
            <a:ext cx="10698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29BFE"/>
                </a:solidFill>
                <a:latin typeface="+mn-ea"/>
              </a:rPr>
              <a:t>해외 매출 기여:  2028 → +50억     2029 → +80억     2030 → +85억원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A2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29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29BFE"/>
                </a:solidFill>
                <a:latin typeface="+mn-ea"/>
              </a:rPr>
              <a:t>WHY MARRYWELL NOW?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0584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 dirty="0" err="1">
                <a:solidFill>
                  <a:srgbClr val="FFFFFF"/>
                </a:solidFill>
                <a:latin typeface="+mn-ea"/>
              </a:rPr>
              <a:t>결혼식의</a:t>
            </a:r>
            <a:r>
              <a:rPr sz="4000" b="1" i="0" dirty="0">
                <a:solidFill>
                  <a:srgbClr val="FFFFFF"/>
                </a:solidFill>
                <a:latin typeface="+mn-ea"/>
              </a:rPr>
              <a:t> </a:t>
            </a:r>
            <a:r>
              <a:rPr sz="4000" b="1" i="0" dirty="0" err="1">
                <a:solidFill>
                  <a:srgbClr val="FFFFFF"/>
                </a:solidFill>
                <a:latin typeface="+mn-ea"/>
              </a:rPr>
              <a:t>디지털</a:t>
            </a:r>
            <a:r>
              <a:rPr sz="4000" b="1" i="0" dirty="0">
                <a:solidFill>
                  <a:srgbClr val="FFFFFF"/>
                </a:solidFill>
                <a:latin typeface="+mn-ea"/>
              </a:rPr>
              <a:t> </a:t>
            </a:r>
            <a:r>
              <a:rPr sz="4000" b="1" i="0" dirty="0" err="1">
                <a:solidFill>
                  <a:srgbClr val="FFFFFF"/>
                </a:solidFill>
                <a:latin typeface="+mn-ea"/>
              </a:rPr>
              <a:t>혁신</a:t>
            </a:r>
            <a:r>
              <a:rPr sz="4000" b="1" i="0" dirty="0">
                <a:solidFill>
                  <a:srgbClr val="FFFFFF"/>
                </a:solidFill>
                <a:latin typeface="+mn-ea"/>
              </a:rPr>
              <a:t>,
</a:t>
            </a:r>
            <a:r>
              <a:rPr sz="4000" b="1" i="0" dirty="0" err="1">
                <a:solidFill>
                  <a:srgbClr val="FFFFFF"/>
                </a:solidFill>
                <a:latin typeface="+mn-ea"/>
              </a:rPr>
              <a:t>지금이</a:t>
            </a:r>
            <a:r>
              <a:rPr sz="4000" b="1" i="0" dirty="0">
                <a:solidFill>
                  <a:srgbClr val="FFFFFF"/>
                </a:solidFill>
                <a:latin typeface="+mn-ea"/>
              </a:rPr>
              <a:t> </a:t>
            </a:r>
            <a:r>
              <a:rPr sz="4000" b="1" i="0" dirty="0" err="1">
                <a:solidFill>
                  <a:srgbClr val="FFFFFF"/>
                </a:solidFill>
                <a:latin typeface="+mn-ea"/>
              </a:rPr>
              <a:t>바로</a:t>
            </a:r>
            <a:r>
              <a:rPr sz="4000" b="1" i="0" dirty="0">
                <a:solidFill>
                  <a:srgbClr val="FFFFFF"/>
                </a:solidFill>
                <a:latin typeface="+mn-ea"/>
              </a:rPr>
              <a:t> 그 </a:t>
            </a:r>
            <a:r>
              <a:rPr sz="4000" b="1" i="0" dirty="0" err="1">
                <a:solidFill>
                  <a:srgbClr val="FFFFFF"/>
                </a:solidFill>
                <a:latin typeface="+mn-ea"/>
              </a:rPr>
              <a:t>시점입니다</a:t>
            </a:r>
            <a:r>
              <a:rPr sz="4000" b="1" i="0" dirty="0">
                <a:solidFill>
                  <a:srgbClr val="FFFFFF"/>
                </a:solidFill>
                <a:latin typeface="+mn-ea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2743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+mn-ea"/>
              </a:rPr>
              <a:t>4조원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2743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29BFE"/>
                </a:solidFill>
                <a:latin typeface="+mn-ea"/>
              </a:rPr>
              <a:t>국내 경조사 TAM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834640"/>
            <a:ext cx="2743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+mn-ea"/>
              </a:rPr>
              <a:t>80%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3657600"/>
            <a:ext cx="2743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29BFE"/>
                </a:solidFill>
                <a:latin typeface="+mn-ea"/>
              </a:rPr>
              <a:t>상담→예약 전환율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834640"/>
            <a:ext cx="2743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+mn-ea"/>
              </a:rPr>
              <a:t>793억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3657600"/>
            <a:ext cx="2743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29BFE"/>
                </a:solidFill>
                <a:latin typeface="+mn-ea"/>
              </a:rPr>
              <a:t>2030년 목표 매출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2834640"/>
            <a:ext cx="2743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+mn-ea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3657600"/>
            <a:ext cx="2743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29BFE"/>
                </a:solidFill>
                <a:latin typeface="+mn-ea"/>
              </a:rPr>
              <a:t>통합 경쟁사 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251960"/>
            <a:ext cx="11247120" cy="1463040"/>
          </a:xfrm>
          <a:prstGeom prst="rect">
            <a:avLst/>
          </a:prstGeom>
          <a:solidFill>
            <a:srgbClr val="221166"/>
          </a:solidFill>
          <a:ln>
            <a:solidFill>
              <a:srgbClr val="88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31520" y="4389120"/>
            <a:ext cx="1069848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FF"/>
                </a:solidFill>
                <a:latin typeface="+mn-ea"/>
              </a:rPr>
              <a:t>MARRYWELL은 단순한 청첩장 앱이 아닙니다. 결혼식의 전 과정을 디지털로 연결하는 플랫폼이며,
나아가 신혼부부의 생애주기 데이터를 바탕으로 AI 복지 추천 · 마이데이터 · 커머스로 확장합니다.
경쟁사가 제공하지 못하는 통합 솔루션, 검증된 시장 수요, 그리고 명확한 수익 모델과 글로벌 확장 플랜이 있습니다.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897880"/>
            <a:ext cx="5486400" cy="685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2920" y="5989320"/>
            <a:ext cx="53949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B3BC7"/>
                </a:solidFill>
                <a:latin typeface="+mn-ea"/>
              </a:rPr>
              <a:t>함께 결혼 문화를 바꿔나갑시다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6035040"/>
            <a:ext cx="5486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29BFE"/>
                </a:solidFill>
                <a:latin typeface="+mn-ea"/>
              </a:rPr>
              <a:t>온앤오프랩  ·  MARRYWELL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사용자 지정 8">
      <a:majorFont>
        <a:latin typeface="Calibri"/>
        <a:ea typeface="Noto Sans KR"/>
        <a:cs typeface=""/>
      </a:majorFont>
      <a:minorFont>
        <a:latin typeface="Calibri"/>
        <a:ea typeface="Noto Sans K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1322</Words>
  <Application>Microsoft Office PowerPoint</Application>
  <PresentationFormat>사용자 지정</PresentationFormat>
  <Paragraphs>258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jiyeon kim</dc:creator>
  <cp:keywords/>
  <dc:description>generated using python-pptx</dc:description>
  <cp:lastModifiedBy>jiyeon kim</cp:lastModifiedBy>
  <cp:revision>6</cp:revision>
  <dcterms:created xsi:type="dcterms:W3CDTF">2013-01-27T09:14:16Z</dcterms:created>
  <dcterms:modified xsi:type="dcterms:W3CDTF">2026-04-12T07:40:43Z</dcterms:modified>
  <cp:category/>
</cp:coreProperties>
</file>